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94960" y="548640"/>
            <a:ext cx="1399032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502920"/>
            <a:ext cx="1399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1F5F9"/>
                </a:solidFill>
                <a:latin typeface="Calibri"/>
              </a:rPr>
              <a:t>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  <a:latin typeface="Calibri"/>
              </a:rPr>
              <a:t>HACKATHON 2026  ·  TEAM ALT_CODE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1F5F9"/>
                </a:solidFill>
                <a:latin typeface="Calibri"/>
              </a:rPr>
              <a:t>DataDoctor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818CF8"/>
                </a:solidFill>
                <a:latin typeface="Calibri"/>
              </a:rPr>
              <a:t>Collaborative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4D399"/>
                </a:solidFill>
                <a:latin typeface="Calibri"/>
              </a:rPr>
              <a:t>"AI that diagnoses your data — and knows when to ask a human."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1363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A production-grade AI platform that detects anomalies in data pipelines,
diagnoses root causes with statistical engines, and collaborates with humans in real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4800600"/>
            <a:ext cx="2103120" cy="292608"/>
          </a:xfrm>
          <a:prstGeom prst="rect">
            <a:avLst/>
          </a:prstGeom>
          <a:solidFill>
            <a:srgbClr val="6366F1"/>
          </a:solidFill>
          <a:ln w="762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800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18CF8"/>
                </a:solidFill>
                <a:latin typeface="Calibri"/>
              </a:rPr>
              <a:t>🤖 Gemini 3.6 AI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4800600"/>
            <a:ext cx="2103120" cy="292608"/>
          </a:xfrm>
          <a:prstGeom prst="rect">
            <a:avLst/>
          </a:prstGeom>
          <a:solidFill>
            <a:srgbClr val="064E3B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4800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Calibri"/>
              </a:rPr>
              <a:t>🐍 FastAPI 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4800600"/>
            <a:ext cx="2103120" cy="292608"/>
          </a:xfrm>
          <a:prstGeom prst="rect">
            <a:avLst/>
          </a:prstGeom>
          <a:solidFill>
            <a:srgbClr val="453200"/>
          </a:solidFill>
          <a:ln w="762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4800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Calibri"/>
              </a:rPr>
              <a:t>⚛️ React + Vite Frontend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4800600"/>
            <a:ext cx="2103120" cy="292608"/>
          </a:xfrm>
          <a:prstGeom prst="rect">
            <a:avLst/>
          </a:prstGeom>
          <a:solidFill>
            <a:srgbClr val="450606"/>
          </a:solidFill>
          <a:ln w="762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48006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87171"/>
                </a:solidFill>
                <a:latin typeface="Calibri"/>
              </a:rPr>
              <a:t>📊 Pandas +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  <a:latin typeface="Calibri"/>
              </a:rPr>
              <a:t>Bad data costs billions.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18CF8"/>
                </a:solidFill>
                <a:latin typeface="Calibri"/>
              </a:rPr>
              <a:t>Nobody knows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  <a:latin typeface="Calibri"/>
              </a:rPr>
              <a:t>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Pipelines fail silently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Broken ingestion corrupts dashboards for hours before anyone notices.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7919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  <a:latin typeface="Calibri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791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Root cause is a black 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352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Was it a bug, schema change, or real business shift? Engineers spend hours guessing.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9242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  <a:latin typeface="Calibri"/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924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AI alone isn't enough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484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Pure automation has blind spots — it can't tell if a drop is a migration or incident.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0565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1F5F9"/>
                </a:solidFill>
                <a:latin typeface="Calibri"/>
              </a:rPr>
              <a:t>⏱️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056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MTTR is too long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3616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Every minute of bad data means incorrect decisions at the executive level.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822960"/>
            <a:ext cx="5212080" cy="1508760"/>
          </a:xfrm>
          <a:prstGeom prst="rect">
            <a:avLst/>
          </a:prstGeom>
          <a:solidFill>
            <a:srgbClr val="1A0808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93268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87171"/>
                </a:solidFill>
                <a:latin typeface="Calibri"/>
              </a:rPr>
              <a:t>$12.9M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153619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Average annual cost of poor
data quality (Gartner 2023)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468880"/>
            <a:ext cx="5212080" cy="1508760"/>
          </a:xfrm>
          <a:prstGeom prst="rect">
            <a:avLst/>
          </a:prstGeom>
          <a:solidFill>
            <a:srgbClr val="1A080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57860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BBF24"/>
                </a:solidFill>
                <a:latin typeface="Calibri"/>
              </a:rPr>
              <a:t>47%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318211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Of data professionals' time
wasted cleaning data instead
of generating insights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114800"/>
            <a:ext cx="5212080" cy="1508760"/>
          </a:xfrm>
          <a:prstGeom prst="rect">
            <a:avLst/>
          </a:prstGeom>
          <a:solidFill>
            <a:srgbClr val="1A0808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22452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4D399"/>
                </a:solidFill>
                <a:latin typeface="Calibri"/>
              </a:rPr>
              <a:t>3.2 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82803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Average time to detect a
pipeline anomaly without
automated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1F5F9"/>
                </a:solidFill>
                <a:latin typeface="Calibri"/>
              </a:rPr>
              <a:t>One Platform.  Three Superpowers.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463040"/>
            <a:ext cx="100584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56616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7451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1F5F9"/>
                </a:solidFill>
                <a:latin typeface="Calibri"/>
              </a:rPr>
              <a:t>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Intelligent Profiling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971800"/>
            <a:ext cx="457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09067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Upload any dataset (CSV, JSON, XLSX). Our Pandas engine automatically computes
per-column statistics: missing rates, distributions, and outlier scores — in seconds.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37360"/>
            <a:ext cx="356616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87451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1F5F9"/>
                </a:solidFill>
                <a:latin typeface="Calibri"/>
              </a:rPr>
              <a:t>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Anomaly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2971800"/>
            <a:ext cx="457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309067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Three statistical algorithms run simultaneously: Z-Score, IQR Fencing, and Missing
Value Spike detection — flagging issues with severity levels and confidence scores.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737360"/>
            <a:ext cx="3566160" cy="42976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87451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1F5F9"/>
                </a:solidFill>
                <a:latin typeface="Calibri"/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Calibri"/>
              </a:rPr>
              <a:t>Human-AI Collaboration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3608" y="2971800"/>
            <a:ext cx="457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090672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When AI confidence drops below the autonomous threshold, it escalates to a human
via a chat interface and asks a precise, targeted question to resolve ambiguity.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1F5F9"/>
                </a:solidFill>
                <a:latin typeface="Calibri"/>
              </a:rPr>
              <a:t>Production-grade Full-Stack AI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1234440" cy="822960"/>
          </a:xfrm>
          <a:prstGeom prst="rect">
            <a:avLst/>
          </a:prstGeom>
          <a:solidFill>
            <a:srgbClr val="0F172A"/>
          </a:solidFill>
          <a:ln w="1143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9105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1F5F9"/>
                </a:solidFill>
                <a:latin typeface="Calibri"/>
              </a:rPr>
              <a:t>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019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214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CSV / JSON / XLSX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55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554480"/>
            <a:ext cx="1234440" cy="822960"/>
          </a:xfrm>
          <a:prstGeom prst="rect">
            <a:avLst/>
          </a:prstGeom>
          <a:solidFill>
            <a:srgbClr val="1E205E"/>
          </a:solidFill>
          <a:ln w="1143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159105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1F5F9"/>
                </a:solidFill>
                <a:latin typeface="Calibri"/>
              </a:rP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9019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Profiling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1214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Pandas + 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755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1554480"/>
            <a:ext cx="1234440" cy="822960"/>
          </a:xfrm>
          <a:prstGeom prst="rect">
            <a:avLst/>
          </a:prstGeom>
          <a:solidFill>
            <a:srgbClr val="1E205E"/>
          </a:solidFill>
          <a:ln w="1143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59105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1F5F9"/>
                </a:solidFill>
                <a:latin typeface="Calibri"/>
              </a:rPr>
              <a:t>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9019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Anomaly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1214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Z-Score · IQR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755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1554480"/>
            <a:ext cx="1234440" cy="822960"/>
          </a:xfrm>
          <a:prstGeom prst="rect">
            <a:avLst/>
          </a:prstGeom>
          <a:solidFill>
            <a:srgbClr val="1E205E"/>
          </a:solidFill>
          <a:ln w="1143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59105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1F5F9"/>
                </a:solidFill>
                <a:latin typeface="Calibri"/>
              </a:rP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19019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DataDoctor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1214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Gemini 3.6 Flash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755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1554480"/>
            <a:ext cx="1234440" cy="822960"/>
          </a:xfrm>
          <a:prstGeom prst="rect">
            <a:avLst/>
          </a:prstGeom>
          <a:solidFill>
            <a:srgbClr val="0F172A"/>
          </a:solidFill>
          <a:ln w="1143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159105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1F5F9"/>
                </a:solidFill>
                <a:latin typeface="Calibri"/>
              </a:rP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9019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  <a:latin typeface="Calibri"/>
              </a:rPr>
              <a:t>Human Collab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12140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Chat Interface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560320"/>
            <a:ext cx="5669280" cy="196596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🐍  Backend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12724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FastAPI  ·  Python 3.12  ·  SQLAlchemy  ·  SQLite/PostgreSQL
Pandas  ·  NumPy  ·  Scikit-learn  ·  Uvicorn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560320"/>
            <a:ext cx="5669280" cy="196596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18CF8"/>
                </a:solidFill>
                <a:latin typeface="Calibri"/>
              </a:rPr>
              <a:t>⚛️  Frontend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127248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React 18 + TypeScript  ·  Vite  ·  Tailwind CSS v4
Framer Motion  ·  React Flow  ·  Recharts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709160"/>
            <a:ext cx="11521440" cy="658368"/>
          </a:xfrm>
          <a:prstGeom prst="rect">
            <a:avLst/>
          </a:prstGeom>
          <a:solidFill>
            <a:srgbClr val="1E205E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828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18CF8"/>
                </a:solidFill>
                <a:latin typeface="Calibri"/>
              </a:rPr>
              <a:t>🔑  AI Layer: google-genai SDK  ·  Gemini 3.6 Flash  ·  Custom DataDoctor persona  ·  Dataset context injection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PLATFORM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1F5F9"/>
                </a:solidFill>
                <a:latin typeface="Calibri"/>
              </a:rPr>
              <a:t>Built for the Live Demo.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5669280" cy="21488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7373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  <a:latin typeface="Calibri"/>
              </a:rPr>
              <a:t>⏱️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194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Time Travel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569464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Click 'Inject Pipeline Failure' and watch the dashboard react live — charts
drop, the Knowledge Graph pulses red, and the AI begins its diagnostic.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00200"/>
            <a:ext cx="5669280" cy="21488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7373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  <a:latin typeface="Calibri"/>
              </a:rPr>
              <a:t>🕸️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194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Pipeline Knowledge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569464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An interactive React Flow diagram maps every data node. When failure is
detected, the root-cause node is highlighted showing the full blast radius.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77639"/>
            <a:ext cx="5669280" cy="21488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411479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  <a:latin typeface="Calibri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457199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AI Dataset 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946903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Ask any natural-language question about your data. DataDoctor AI reads the
real file and answers with precise statistics and code snippets.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977639"/>
            <a:ext cx="5669280" cy="21488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11479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  <a:latin typeface="Calibri"/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57199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Calibri"/>
              </a:rPr>
              <a:t>Financial Impact Estimator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946903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Anomalies are translated into business impact — 'This masks an estimated
$14,200 in revenue' instead of just 'missing values detected.'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THE AI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  <a:latin typeface="Calibri"/>
              </a:rPr>
              <a:t>Custom-built DataDoctor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18CF8"/>
                </a:solidFill>
                <a:latin typeface="Calibri"/>
              </a:rPr>
              <a:t>Powered by Google Gemini 3.6 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1F5F9"/>
                </a:solidFill>
                <a:latin typeface="Calibri"/>
              </a:rPr>
              <a:t>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Persona-driven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Custom system prompt makes Gemini behave as a Data Reliability Engineer — not a generic chatbot.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7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1F5F9"/>
                </a:solidFill>
                <a:latin typeface="Calibr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7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Dataset context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9864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Before every response, the AI receives the full column schema, statistical profiles, and 5 sample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74135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1F5F9"/>
                </a:solidFill>
                <a:latin typeface="Calibri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7413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Precision escalation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4845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When confidence is low, the AI generates a targeted question — not a vague 'I don't know.'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23943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1F5F9"/>
                </a:solidFill>
                <a:latin typeface="Calibr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2394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Sub-3-second responses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9826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Gemini 3.6 Flash ensures snappy UX during live hackathon demonstrations.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777240"/>
            <a:ext cx="5303520" cy="3566160"/>
          </a:xfrm>
          <a:prstGeom prst="rect">
            <a:avLst/>
          </a:prstGeom>
          <a:solidFill>
            <a:srgbClr val="1E205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914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8CF8"/>
                </a:solidFill>
                <a:latin typeface="Calibri"/>
              </a:rPr>
              <a:t>Sample AI Response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1371600"/>
            <a:ext cx="4892040" cy="2651760"/>
          </a:xfrm>
          <a:prstGeom prst="rect">
            <a:avLst/>
          </a:prstGeom>
          <a:solidFill>
            <a:srgbClr val="020617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481328"/>
            <a:ext cx="45720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DataDoctor AI:
I've analyzed Airline Dataset.csv
(98,619 rows × 15 columns)
Avg passenger age: 45.50 years
Unique nationalities: 240
✅ No anomalies detected.
Dataset is clean and ready for analysis!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617720"/>
            <a:ext cx="169164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6634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18CF8"/>
                </a:solidFill>
                <a:latin typeface="Calibri"/>
              </a:rPr>
              <a:t>3.6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4748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Gemini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4617720"/>
            <a:ext cx="169164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6634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18CF8"/>
                </a:solidFill>
                <a:latin typeface="Calibri"/>
              </a:rPr>
              <a:t>&lt;3s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04748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Response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4617720"/>
            <a:ext cx="169164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46634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18CF8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504748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Detectors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8CF8"/>
                </a:solidFill>
                <a:latin typeface="Calibri"/>
              </a:rPr>
              <a:t>IMPACT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1F5F9"/>
                </a:solidFill>
                <a:latin typeface="Calibri"/>
              </a:rPr>
              <a:t>DataDoctor changes the game for data teams.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566160" cy="11704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934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18CF8"/>
                </a:solidFill>
                <a:latin typeface="Calibri"/>
              </a:rP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Reduction in time
to detect anomalies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566160" cy="11704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0934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18CF8"/>
                </a:solidFill>
                <a:latin typeface="Calibri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21408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AI query cost —
Gemini free 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554480"/>
            <a:ext cx="3566160" cy="11704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160934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18CF8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21408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Every AI decision
is logged &amp; explainable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26080"/>
            <a:ext cx="5669280" cy="27889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  <a:latin typeface="Calibri"/>
              </a:rPr>
              <a:t>🗺️  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347472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0617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661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Real-time 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Kafka / WebSocket for live pipeline monitoring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347472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0617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519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Multi-source Connectors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079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Snowflake, BigQuery, dbt, Airflow integrations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37760"/>
            <a:ext cx="347472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937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0617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377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Calibri"/>
              </a:rPr>
              <a:t>Self-healing Pipelines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937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auto-generates remediation scripts on root-cause confirm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926080"/>
            <a:ext cx="5715000" cy="2788920"/>
          </a:xfrm>
          <a:prstGeom prst="rect">
            <a:avLst/>
          </a:prstGeom>
          <a:solidFill>
            <a:srgbClr val="1E205E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017520"/>
            <a:ext cx="5715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1F5F9"/>
                </a:solidFill>
                <a:latin typeface="Calibri"/>
              </a:rPr>
              <a:t>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749039"/>
            <a:ext cx="5715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F5F9"/>
                </a:solidFill>
                <a:latin typeface="Calibri"/>
              </a:rPr>
              <a:t>Thank You!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25196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DataDoctor Collaborative  ·  Team ALT_CODE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663440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4D399"/>
                </a:solidFill>
                <a:latin typeface="Calibri"/>
              </a:rPr>
              <a:t>"AI that diagnoses your data — and knows when to ask a human."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5230368"/>
            <a:ext cx="2057400" cy="292608"/>
          </a:xfrm>
          <a:prstGeom prst="rect">
            <a:avLst/>
          </a:prstGeom>
          <a:solidFill>
            <a:srgbClr val="064E3B"/>
          </a:solidFill>
          <a:ln w="762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523036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Calibri"/>
              </a:rPr>
              <a:t>Demo: localhost:5173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